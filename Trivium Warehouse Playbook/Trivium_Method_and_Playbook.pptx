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500">
                <a:solidFill>
                  <a:srgbClr val="1F3864"/>
                </a:solidFill>
                <a:latin typeface="Segoe UI"/>
              </a:rPr>
              <a:t>How We Do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83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200">
                <a:solidFill>
                  <a:srgbClr val="6B7480"/>
                </a:solidFill>
                <a:latin typeface="Segoe UI"/>
              </a:rPr>
              <a:t>From taking the brief to the boss-ready deck — the phases we run every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11183111" cy="3048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1183111" cy="566928"/>
          </a:xfrm>
          <a:prstGeom prst="roundRect">
            <a:avLst/>
          </a:prstGeom>
          <a:solidFill>
            <a:srgbClr val="FDF6E9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POWER BI = the maths     ·     HTML = the read-out     —     at every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1627632" cy="1572768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0" bIns="54864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Load &amp; Clean</a:t>
            </a:r>
          </a:p>
          <a:p>
            <a:pPr algn="ctr">
              <a:spcBef>
                <a:spcPts val="300"/>
              </a:spcBef>
            </a:pPr>
            <a:r>
              <a:rPr b="0" sz="950">
                <a:solidFill>
                  <a:srgbClr val="6B7480"/>
                </a:solidFill>
                <a:latin typeface="Segoe UI"/>
              </a:rPr>
              <a:t>into Power BI · fix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843784"/>
            <a:ext cx="1371600" cy="4572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57984" y="3227832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2000">
                <a:solidFill>
                  <a:srgbClr val="FBAE40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2697480"/>
            <a:ext cx="1627632" cy="1572768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0" bIns="54864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Understand</a:t>
            </a:r>
          </a:p>
          <a:p>
            <a:pPr algn="ctr">
              <a:spcBef>
                <a:spcPts val="300"/>
              </a:spcBef>
            </a:pPr>
            <a:r>
              <a:rPr b="0" sz="950">
                <a:solidFill>
                  <a:srgbClr val="6B7480"/>
                </a:solidFill>
                <a:latin typeface="Segoe UI"/>
              </a:rPr>
              <a:t>profile → HTML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2843784"/>
            <a:ext cx="1371600" cy="4572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9936" y="3227832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2000">
                <a:solidFill>
                  <a:srgbClr val="FBAE40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697480"/>
            <a:ext cx="1627632" cy="1572768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0" bIns="54864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Choose engine</a:t>
            </a:r>
          </a:p>
          <a:p>
            <a:pPr algn="ctr">
              <a:spcBef>
                <a:spcPts val="300"/>
              </a:spcBef>
            </a:pPr>
            <a:r>
              <a:rPr b="0" sz="950">
                <a:solidFill>
                  <a:srgbClr val="6B7480"/>
                </a:solidFill>
                <a:latin typeface="Segoe UI"/>
              </a:rPr>
              <a:t>tote or pallet?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843784"/>
            <a:ext cx="1371600" cy="4572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3227832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2000">
                <a:solidFill>
                  <a:srgbClr val="FBAE40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697480"/>
            <a:ext cx="1627632" cy="1572768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0" bIns="54864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Calculate</a:t>
            </a:r>
          </a:p>
          <a:p>
            <a:pPr algn="ctr">
              <a:spcBef>
                <a:spcPts val="300"/>
              </a:spcBef>
            </a:pPr>
            <a:r>
              <a:rPr b="0" sz="950">
                <a:solidFill>
                  <a:srgbClr val="6B7480"/>
                </a:solidFill>
                <a:latin typeface="Segoe UI"/>
              </a:rPr>
              <a:t>Power BI → HTML charts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2843784"/>
            <a:ext cx="1371600" cy="4572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227832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2000">
                <a:solidFill>
                  <a:srgbClr val="FBAE40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2697480"/>
            <a:ext cx="1627632" cy="1572768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0" bIns="54864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Bucket</a:t>
            </a:r>
          </a:p>
          <a:p>
            <a:pPr algn="ctr">
              <a:spcBef>
                <a:spcPts val="300"/>
              </a:spcBef>
            </a:pPr>
            <a:r>
              <a:rPr b="0" sz="950">
                <a:solidFill>
                  <a:srgbClr val="6B7480"/>
                </a:solidFill>
                <a:latin typeface="Segoe UI"/>
              </a:rPr>
              <a:t>bands from the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4464" y="2843784"/>
            <a:ext cx="1371600" cy="4572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3227832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2000">
                <a:solidFill>
                  <a:srgbClr val="FBAE40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697480"/>
            <a:ext cx="1627632" cy="1572768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0" bIns="54864"/>
          <a:lstStyle/>
          <a:p>
            <a:pPr algn="ctr"/>
            <a:r>
              <a:rPr b="1" sz="1250">
                <a:solidFill>
                  <a:srgbClr val="1F3864"/>
                </a:solidFill>
                <a:latin typeface="Segoe UI"/>
              </a:rPr>
              <a:t>Deliver</a:t>
            </a:r>
          </a:p>
          <a:p>
            <a:pPr algn="ctr">
              <a:spcBef>
                <a:spcPts val="300"/>
              </a:spcBef>
            </a:pPr>
            <a:r>
              <a:rPr b="0" sz="950">
                <a:solidFill>
                  <a:srgbClr val="6B7480"/>
                </a:solidFill>
                <a:latin typeface="Segoe UI"/>
              </a:rPr>
              <a:t>HTML · Excel · PPT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86416" y="2843784"/>
            <a:ext cx="1371600" cy="4572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26280"/>
            <a:ext cx="11183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0" sz="1100">
                <a:solidFill>
                  <a:srgbClr val="6B7480"/>
                </a:solidFill>
                <a:latin typeface="Segoe UI"/>
              </a:rPr>
              <a:t>At ‘Choose’:  </a:t>
            </a:r>
            <a:r>
              <a:rPr b="1" sz="1100">
                <a:solidFill>
                  <a:srgbClr val="1F3864"/>
                </a:solidFill>
                <a:latin typeface="Segoe UI"/>
              </a:rPr>
              <a:t>Engine A — cubic sizing (tote / pallet)</a:t>
            </a:r>
            <a:r>
              <a:rPr b="0" sz="1100">
                <a:solidFill>
                  <a:srgbClr val="6B7480"/>
                </a:solidFill>
                <a:latin typeface="Segoe UI"/>
              </a:rPr>
              <a:t>    ·    </a:t>
            </a:r>
            <a:r>
              <a:rPr b="1" sz="1100">
                <a:solidFill>
                  <a:srgbClr val="1F3864"/>
                </a:solidFill>
                <a:latin typeface="Segoe UI"/>
              </a:rPr>
              <a:t>Engine B — cartons per pallet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56048"/>
            <a:ext cx="11183111" cy="548640"/>
          </a:xfrm>
          <a:prstGeom prst="roundRect">
            <a:avLst/>
          </a:prstGeom>
          <a:solidFill>
            <a:srgbClr val="FDF6E9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E3444"/>
                </a:solidFill>
                <a:latin typeface="Segoe UI"/>
              </a:rPr>
              <a:t>Then re-check the whole thing against past mistakes before it ships  ·  reconcile · keep it live · one house style · re-run the chain on new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00800"/>
            <a:ext cx="11183111" cy="9525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502920" y="6473952"/>
            <a:ext cx="137160" cy="137160"/>
          </a:xfrm>
          <a:prstGeom prst="triangl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6200000">
            <a:off x="640080" y="6473952"/>
            <a:ext cx="137160" cy="137160"/>
          </a:xfrm>
          <a:prstGeom prst="triangl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6492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950">
                <a:solidFill>
                  <a:srgbClr val="6B7480"/>
                </a:solidFill>
                <a:latin typeface="Segoe UI"/>
              </a:rPr>
              <a:t>© 2026 Trivium Analytics Limited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0" sz="950">
                <a:solidFill>
                  <a:srgbClr val="6B7480"/>
                </a:solidFill>
                <a:latin typeface="Segoe UI"/>
              </a:rPr>
              <a:t>Trivium consulting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6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48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500">
                <a:solidFill>
                  <a:srgbClr val="1F3864"/>
                </a:solidFill>
                <a:latin typeface="Segoe UI"/>
              </a:rPr>
              <a:t>The Playbook — All the Files,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83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200">
                <a:solidFill>
                  <a:srgbClr val="6B7480"/>
                </a:solidFill>
                <a:latin typeface="Segoe UI"/>
              </a:rPr>
              <a:t>13 short, interactive files (question prompts + checklists) — read in order; here's what each one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11183111" cy="30480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19072"/>
            <a:ext cx="11183111" cy="438912"/>
          </a:xfrm>
          <a:prstGeom prst="roundRect">
            <a:avLst/>
          </a:prstGeom>
          <a:solidFill>
            <a:srgbClr val="FDF6E9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2E3444"/>
                </a:solidFill>
                <a:latin typeface="Segoe UI"/>
              </a:rPr>
              <a:t>Interactive — question prompts + tick-box checklists   ·   read in order   ·   nail the goal first (01)   ·   re-check before it ships (12)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00   </a:t>
            </a:r>
            <a:r>
              <a:rPr b="1" sz="1200">
                <a:solidFill>
                  <a:srgbClr val="1F3864"/>
                </a:solidFill>
                <a:latin typeface="Segoe UI"/>
              </a:rPr>
              <a:t>Overview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the map — the two engines, the arc, principles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01   </a:t>
            </a:r>
            <a:r>
              <a:rPr b="1" sz="1200">
                <a:solidFill>
                  <a:srgbClr val="1F3864"/>
                </a:solidFill>
                <a:latin typeface="Segoe UI"/>
              </a:rPr>
              <a:t>Brief &amp; Scope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the questions to pin down before any data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02   </a:t>
            </a:r>
            <a:r>
              <a:rPr b="1" sz="1200">
                <a:solidFill>
                  <a:srgbClr val="1F3864"/>
                </a:solidFill>
                <a:latin typeface="Segoe UI"/>
              </a:rPr>
              <a:t>Load &amp; Clean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into Power BI; fix errors &amp; bad rows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03   </a:t>
            </a:r>
            <a:r>
              <a:rPr b="1" sz="1200">
                <a:solidFill>
                  <a:srgbClr val="1F3864"/>
                </a:solidFill>
                <a:latin typeface="Segoe UI"/>
              </a:rPr>
              <a:t>Understand the Data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profile it → an HTML data-summary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04   </a:t>
            </a:r>
            <a:r>
              <a:rPr b="1" sz="1200">
                <a:solidFill>
                  <a:srgbClr val="1F3864"/>
                </a:solidFill>
                <a:latin typeface="Segoe UI"/>
              </a:rPr>
              <a:t>Choose the Engine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tote calc (cubic) or pallet calc?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05a   </a:t>
            </a:r>
            <a:r>
              <a:rPr b="1" sz="1200">
                <a:solidFill>
                  <a:srgbClr val="1F3864"/>
                </a:solidFill>
                <a:latin typeface="Segoe UI"/>
              </a:rPr>
              <a:t>Tote / Cubic Sizing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box cube → stock cube × fill % → caps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05b   </a:t>
            </a:r>
            <a:r>
              <a:rPr b="1" sz="1200">
                <a:solidFill>
                  <a:srgbClr val="1F3864"/>
                </a:solidFill>
                <a:latin typeface="Segoe UI"/>
              </a:rPr>
              <a:t>Cartons per Pallet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orientations × layers × weight → pallet qty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2377440"/>
            <a:ext cx="5303519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06   </a:t>
            </a:r>
            <a:r>
              <a:rPr b="1" sz="1200">
                <a:solidFill>
                  <a:srgbClr val="1F3864"/>
                </a:solidFill>
                <a:latin typeface="Segoe UI"/>
              </a:rPr>
              <a:t>Bucketing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weight, cover, location &amp; tote bands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07   </a:t>
            </a:r>
            <a:r>
              <a:rPr b="1" sz="1200">
                <a:solidFill>
                  <a:srgbClr val="1F3864"/>
                </a:solidFill>
                <a:latin typeface="Segoe UI"/>
              </a:rPr>
              <a:t>Current State &amp; Scenarios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reproduce actuals; reconcile to the whole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08   </a:t>
            </a:r>
            <a:r>
              <a:rPr b="1" sz="1200">
                <a:solidFill>
                  <a:srgbClr val="1F3864"/>
                </a:solidFill>
                <a:latin typeface="Segoe UI"/>
              </a:rPr>
              <a:t>Throughput &amp; Forecast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packs → lines, peak factors, forecast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09   </a:t>
            </a:r>
            <a:r>
              <a:rPr b="1" sz="1200">
                <a:solidFill>
                  <a:srgbClr val="1F3864"/>
                </a:solidFill>
                <a:latin typeface="Segoe UI"/>
              </a:rPr>
              <a:t>Deliverables &amp; House Style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HTML → image, Excel, the PPT deck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10   </a:t>
            </a:r>
            <a:r>
              <a:rPr b="1" sz="1200">
                <a:solidFill>
                  <a:srgbClr val="1F3864"/>
                </a:solidFill>
                <a:latin typeface="Segoe UI"/>
              </a:rPr>
              <a:t>Updating for New Data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new SKUs → recalc → refresh everything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11   </a:t>
            </a:r>
            <a:r>
              <a:rPr b="1" sz="1200">
                <a:solidFill>
                  <a:srgbClr val="1F3864"/>
                </a:solidFill>
                <a:latin typeface="Segoe UI"/>
              </a:rPr>
              <a:t>Glossary &amp; Reference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capacities, formulas, key numbers, terms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b="1" sz="1200">
                <a:solidFill>
                  <a:srgbClr val="FBAE40"/>
                </a:solidFill>
                <a:latin typeface="Segoe UI"/>
              </a:rPr>
              <a:t>12   </a:t>
            </a:r>
            <a:r>
              <a:rPr b="1" sz="1200">
                <a:solidFill>
                  <a:srgbClr val="1F3864"/>
                </a:solidFill>
                <a:latin typeface="Segoe UI"/>
              </a:rPr>
              <a:t>Recheck &amp; Common Mistakes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0" sz="1000">
                <a:solidFill>
                  <a:srgbClr val="6B7480"/>
                </a:solidFill>
                <a:latin typeface="Segoe UI"/>
              </a:rPr>
              <a:t>      final checklist + the mistakes we fixed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3056" y="2432304"/>
            <a:ext cx="9525" cy="365760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83111" cy="9525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502920" y="6473952"/>
            <a:ext cx="137160" cy="137160"/>
          </a:xfrm>
          <a:prstGeom prst="triangl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6200000">
            <a:off x="640080" y="6473952"/>
            <a:ext cx="137160" cy="137160"/>
          </a:xfrm>
          <a:prstGeom prst="triangl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6492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950">
                <a:solidFill>
                  <a:srgbClr val="6B7480"/>
                </a:solidFill>
                <a:latin typeface="Segoe UI"/>
              </a:rPr>
              <a:t>© 2026 Trivium Analytics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0" sz="950">
                <a:solidFill>
                  <a:srgbClr val="6B7480"/>
                </a:solidFill>
                <a:latin typeface="Segoe UI"/>
              </a:rPr>
              <a:t>Trivium consulting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16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4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F1C60E4133584FAC774E9816114179" ma:contentTypeVersion="13" ma:contentTypeDescription="Create a new document." ma:contentTypeScope="" ma:versionID="8bbc44104bf7a3df79366ecf7df97577">
  <xsd:schema xmlns:xsd="http://www.w3.org/2001/XMLSchema" xmlns:xs="http://www.w3.org/2001/XMLSchema" xmlns:p="http://schemas.microsoft.com/office/2006/metadata/properties" xmlns:ns2="a26dd44f-8c03-4cef-9263-13c5f2713eb8" xmlns:ns3="c59fdeec-9140-4824-8ce7-ceaae1b01c49" targetNamespace="http://schemas.microsoft.com/office/2006/metadata/properties" ma:root="true" ma:fieldsID="4910c9705b23231a584beca4baf20b90" ns2:_="" ns3:_="">
    <xsd:import namespace="a26dd44f-8c03-4cef-9263-13c5f2713eb8"/>
    <xsd:import namespace="c59fdeec-9140-4824-8ce7-ceaae1b01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dd44f-8c03-4cef-9263-13c5f2713e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a953d87-3a41-496b-b411-e18333740c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9fdeec-9140-4824-8ce7-ceaae1b01c49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a2b6434-3a53-449f-98c7-656f22ae99e2}" ma:internalName="TaxCatchAll" ma:showField="CatchAllData" ma:web="c59fdeec-9140-4824-8ce7-ceaae1b01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9fdeec-9140-4824-8ce7-ceaae1b01c49" xsi:nil="true"/>
    <lcf76f155ced4ddcb4097134ff3c332f xmlns="a26dd44f-8c03-4cef-9263-13c5f2713eb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8181E0-FBF7-4779-8F16-3271FE088E3A}"/>
</file>

<file path=customXml/itemProps2.xml><?xml version="1.0" encoding="utf-8"?>
<ds:datastoreItem xmlns:ds="http://schemas.openxmlformats.org/officeDocument/2006/customXml" ds:itemID="{48ACD7D5-BDD0-4541-8148-E00709826FFB}"/>
</file>

<file path=customXml/itemProps3.xml><?xml version="1.0" encoding="utf-8"?>
<ds:datastoreItem xmlns:ds="http://schemas.openxmlformats.org/officeDocument/2006/customXml" ds:itemID="{EDE3C35E-395D-4B6D-B208-DA6B4BE2CCC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0x01010041F1C60E4133584FAC774E9816114179</vt:lpwstr>
  </property>
  <property fmtid="{D5CDD505-2E9C-101B-9397-08002B2CF9AE}" pid="3" name="Order">
    <vt:r8>3500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